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recuperadas al mes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 h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4852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Alta de lista de precios  (1/mes)</c:v>
                  </c:pt>
                  <c:pt idx="1">
                    <c:v>Reporte de fugas  (2/mes)</c:v>
                  </c:pt>
                  <c:pt idx="2">
                    <c:v>Selección eléctrica  (2/mes)</c:v>
                  </c:pt>
                  <c:pt idx="3">
                    <c:v>Requisición de material  (8/mes)</c:v>
                  </c:pt>
                  <c:pt idx="4">
                    <c:v>Reporte de entrega  (6/mes)</c:v>
                  </c:pt>
                  <c:pt idx="5">
                    <c:v>Caídas de presión  (3/mes)</c:v>
                  </c:pt>
                  <c:pt idx="6">
                    <c:v>Cotización completa  (12/mes)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</c:v>
                </c:pt>
                <c:pt idx="1">
                  <c:v>3.3</c:v>
                </c:pt>
                <c:pt idx="2">
                  <c:v>3.7</c:v>
                </c:pt>
                <c:pt idx="3">
                  <c:v>4.9</c:v>
                </c:pt>
                <c:pt idx="4">
                  <c:v>7.5</c:v>
                </c:pt>
                <c:pt idx="5">
                  <c:v>13.8</c:v>
                </c:pt>
                <c:pt idx="6">
                  <c:v>31</c:v>
                </c:pt>
              </c:numCache>
            </c:numRef>
          </c:val>
        </c:ser>
        <c:dLbls>
          <c:numFmt formatCode="0.0&quot; h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4852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8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0"/>
        <c:axPos val="b"/>
        <c:majorGridlines>
          <c:spPr>
            <a:ln w="9525" cap="flat">
              <a:solidFill>
                <a:srgbClr val="E6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B869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B8695"/>
                    </a:solidFill>
                    <a:latin typeface="Arial"/>
                  </a:rPr>
                  <a:t>Horas al mes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6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Portal PIPRO reúne seis herramientas del departamento en un solo acceso. La cifra de 66 horas al mes es una estimación que se detalla en la lámina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conocimiento técnico: es el trabajo repetido de capturar y formatear.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columnas son los tres grupos del menú lateral del portal: Comercial, Ingeniería y Entregables.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cotizador es el módulo de mayor volumen: doce cotizaciones al mes concentran la mitad del ahorro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directorio de clientes es el mismo que usa el cotizador: se da de alta una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módulo pasó por una auditoría de ingeniería: topología en serie/paralelo, porcentaje sobre manométrica y energía por ley politrópica.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tablas de la NOM están dentro del módulo; no hay que abrir la norma para cada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alcance ejecutado se arma desde categorías: se marca lo que se hizo y el texto se redacta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nivel en dB y la pérdida en CFM se capturan punto por punto y los totales se calculan solos.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funciones no pertenecen a un módulo: recortan minutos en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panel se sirve por rol de la sesión, no por una contraseña que se comparte.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cotización concentra 31 de las 66 horas porque es la actividad de mayor volumen, no la más lenta.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pregunta por la cifra, esta es la lámina: los supuestos están declarados y la propuesta es medir un mes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cambio de mayor peso de la auditoría: ninguna credencial viaja al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Accesos nominales con rol: se sabe quién hizo cada cambio de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candidatos concretos: qué tarea manual y repetitiva quieren automatizar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Pedir en la sala la siguiente función a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sfr\Desktop\sistemas POS y Webs\cotizador-pipro-main\cotizador-pipro-main\assets\logo-g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2103120" cy="6391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78308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PIPRO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1272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herramientas del departamento en un solo acceso: cotizar, requisitar, calcular y entregar — con un catálogo, un directorio y un cálculo comunes.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617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EN LÍNEA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2990088" y="4617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≈66 h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2990088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RECUPERADAS AL MES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202936" y="4617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202936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 UN CLIC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92440" y="1417320"/>
            <a:ext cx="3337560" cy="4069080"/>
          </a:xfrm>
          <a:prstGeom prst="roundRect">
            <a:avLst>
              <a:gd name="adj" fmla="val 548"/>
            </a:avLst>
          </a:prstGeom>
          <a:solidFill>
            <a:srgbClr val="2A32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66760" y="16276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18196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Cotizador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24597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Requisiciones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9077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3099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Caídas de presión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3739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eléctrica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4187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43799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entrega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4828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5020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fugas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78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 Denver México  ·  Departamento de Ingeniería  ·  Septiembre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tiempo no se va en decidir. Se va en volver a capturar.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RESUELVE SIN EL PORTAL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39696"/>
            <a:ext cx="520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parte de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propia copia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plantilla de Excel, y ninguna copia envejece igual.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precios se buscan en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que ya no coincide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la del proveedor.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cálculos de red se hacen a mano o con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dedo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no queda memoria de cómo se llegó al número.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 se teclea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veces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Excel, Word y el correo al cliente.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entregables del mismo departamento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parecen entre sí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frente al cliente.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15888" y="1755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 CON EL PORTAL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15888" y="2139696"/>
            <a:ext cx="520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captura una sola vez.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ahí salen el PDF, el Word y el Excel, ya formateados.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catálogo.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254 partidas; si el administrador cambia un precio, cambia para todos en el acto.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directorio de clientes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compartido entre cotizaciones y requisiciones.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cálculos quedan escritos.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campo lleva su fórmula y su fuente normativa a la vista.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formato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entregable con la imagen de Gardner Denver.</a:t>
            </a:r>
            <a:endParaRPr lang="en-US" sz="1250" dirty="0"/>
          </a:p>
        </p:txBody>
      </p:sp>
      <p:pic>
        <p:nvPicPr>
          <p:cNvPr id="8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DEL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módulos ordenados por el flujo real de trabajo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8846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están en orden alfabético: están en el orden en que una persona los usa, desde que llega la solicitud del cliente hasta que se firma la entrega.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9424"/>
            <a:ext cx="3527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332122" y="2249424"/>
            <a:ext cx="3527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97317" y="2249424"/>
            <a:ext cx="3527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79806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Cotizador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145536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de tubería con o sin mano de obra, con cálculo de ruta, viáticos y utilidad.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2615184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1578" y="279806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Caídas de presión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3145536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de red completo: cabezal, bajadas, energía perdida y diámetro recomendado.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7317" y="2615184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6773" y="279806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entrega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16773" y="3145536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de entrega de proyecto con alcance ejecutado y reporte fotográfico.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22776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105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Requisiciones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453128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material con folio, consulta histórica y alta de clientes.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2122" y="3922776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1578" y="4105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eléctrica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51578" y="4453128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Cableado, protección, canalización y lista de materiales según NOM-001-SEDE-2012.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7317" y="3922776"/>
            <a:ext cx="3527450" cy="1069848"/>
          </a:xfrm>
          <a:prstGeom prst="roundRect">
            <a:avLst>
              <a:gd name="adj" fmla="val 1709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16773" y="4105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fugas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16773" y="4453128"/>
            <a:ext cx="30885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ultrasónico: puntos, nivel en dB, pérdida en CFM y evidencia fotográfica.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248656"/>
            <a:ext cx="11057839" cy="731520"/>
          </a:xfrm>
          <a:prstGeom prst="roundRect">
            <a:avLst>
              <a:gd name="adj" fmla="val 2500"/>
            </a:avLst>
          </a:prstGeom>
          <a:solidFill>
            <a:srgbClr val="EEF1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94960"/>
            <a:ext cx="106189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común a los seis: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acceso con usuario y contraseña · catálogo único · directorio de clientes · perfil del ingeniero · modo claro y oscuro · bitácora de movimientos</a:t>
            </a:r>
            <a:endParaRPr lang="en-US" sz="1150" dirty="0"/>
          </a:p>
        </p:txBody>
      </p:sp>
      <p:pic>
        <p:nvPicPr>
          <p:cNvPr id="28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DEL PORTAL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01 · COMERCIAL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Cotizador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modalidades: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 con mano de obra incluida, IT sólo material.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 de catálogo con Ctrl+K: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escribe, se fija la cantidad y se agrega sin cerrar la ventana.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rápido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la partida que todavía no está dada de alta, sin ensuciar el catálogo.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 cliente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la propia cotización, sin ir a otra pestaña.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ruta con OpenStreetMap: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kilómetros, combustible, casetas y desgaste del vehículo se llenan solos.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de obra, viáticos y utilidad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los porcentajes que fija el administrador, iguales para todo el equipo.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de disponibilidad: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el inventario no alcanza, la partida se marca; es información interna y no viaja al cliente.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archivos de un botón: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PDF, Word y Excel.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una cotización anterior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editarla en vez de rehacerla.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COMPLETA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 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494526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Desaparece buscar precios uno por uno, cuadrar la hoja de viáticos y volver a teclear el carrito en el formato del cliente.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COTIZADOR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02 · COMERCIAL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Requisiciones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requisición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folio, fecha, empresa, quien aprueba y formato de entrega.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solicitante se llena solo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el nombre de la cuenta que inició sesión: se acabó el «¿quién pidió esto?».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Partidas desde el mismo catálogo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cotizador, con número de parte y descripción ya normalizados.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histórica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búsqueda por folio, ingeniero o número de parte.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de clientes editable: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empresa, contacto, teléfono, correo, RFC, ciudad y notas internas.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y justificación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viajan con la requisición, no en un correo aparte.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REQUISICIÓN DE MATERIAL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635819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no está sólo en llenarla más rápido: 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requisición de hace tres meses se encuentra en segundos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el mismo número de parte que se cotizó.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REQUISICIONES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03 · INGENIERÍA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de caídas de presión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de compresores: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varios equipos, con presets por HP y factor de carga.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Cabezal y bajadas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sus accesorios: codos, tees y válvulas se convierten en longitud equivalente automáticamente.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reales del sitio: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altitud, temperatura y rugosidad del material entran al cálculo, no se asumen.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Darcy-Weisbach con Swamee-Jain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Reynolds y régimen de flujo por tramo.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Diámetro recomendado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cuando la caída se sale del criterio.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perdida en kW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la ley politrópica, no por una regla lineal.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automáticos: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descarga insuficiente del compresor y caída superior al 10 %.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campo contra calculado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contrastar con lo medido en planta.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ejecutivo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el ramal crítico identificado por su nombre.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DE RED COMPLETO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 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282586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Auditado en septiembre de 2026.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resultados se contrastaron contra una implementación independiente de la física: desviación máxima de 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0.019 %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CAÍDAS DE PRESIÓN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04 · INGENIERÍA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eléctrica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OCHO SECCIONES DEL CÁLCULO, CONFORME A NOM-001-SEDE-2012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equipo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instalación: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distancia, temperatura ambiente y conductores en la canalización.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calculados: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corriente a plena carga y corriente de diseño.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cableado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la tabla 310-15(b)(16) a 75 °C en cobre, castigada por los factores de corrección.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caída de tensión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conductor elegido.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termomagnética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dimensionada al equipo.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Canalización y soportería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área de relleno.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materiales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lista para pasar a compras.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y observaciones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cuando algún criterio queda al límite.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UNA ACOMETIDA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282586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datos de placa del equipo y la distancia al tablero, entrega la instalación resuelta. 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campo muestra el artículo y la tabla de la norma que lo respalda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así que la revisión también es más corta.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ELÉCTRICA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05 · ENTREGABLES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entrega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proyecto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responsable, prellenados con el perfil del ingeniero que firma.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ejecutado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se puede regenerar desde categorías: se elige lo que se hizo y el texto se arma solo.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fotográfico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las imágenes de campo ya escaladas y acomodadas en la página.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Comentarios y observaciones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cierre.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firmado por el Departamento de Ingeniería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el mismo formato en todas las entregas.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DE ENTREGA DE PROYECTO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 30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600496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cuello de botella real no era escribir: era 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y redimensionar fotos en Word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hasta que la página no se descuadrara. Eso ya no existe.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ENTREGA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06 · ENTREGABLES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fugas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ULTRASÓNICO: DE LA LIBRETA DE CAMPO AL ENTREGABLE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2140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estudio: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empresa, planta o área inspeccionada, folio y fecha.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medición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declarado con marca, modelo, número de serie y método, lo que da trazabilidad al reporte.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por punto: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ubicación, nivel en dB y pérdida en CFM, con fotografía de cada uno.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Totales automáticos: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fugas detectadas, pérdida total, nivel promedio y fuga mayor.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PDF con la evidencia integrada.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0376" y="2121408"/>
            <a:ext cx="4044391" cy="2468880"/>
          </a:xfrm>
          <a:prstGeom prst="roundRect">
            <a:avLst>
              <a:gd name="adj" fmla="val 741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36408" y="2276856"/>
            <a:ext cx="3532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ULTRASÓNICO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2633472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25955" y="2542032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2980944"/>
            <a:ext cx="3532327" cy="77724"/>
          </a:xfrm>
          <a:prstGeom prst="rect">
            <a:avLst/>
          </a:prstGeom>
          <a:solidFill>
            <a:srgbClr val="7B86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6408" y="3218688"/>
            <a:ext cx="1942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PORTAL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25955" y="3127248"/>
            <a:ext cx="1942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36408" y="3566160"/>
            <a:ext cx="3532327" cy="77724"/>
          </a:xfrm>
          <a:prstGeom prst="rect">
            <a:avLst/>
          </a:prstGeom>
          <a:solidFill>
            <a:srgbClr val="E6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6408" y="3566160"/>
            <a:ext cx="600496" cy="77724"/>
          </a:xfrm>
          <a:prstGeom prst="rect">
            <a:avLst/>
          </a:prstGeom>
          <a:solidFill>
            <a:srgbClr val="0E6C8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6408" y="3877056"/>
            <a:ext cx="3532327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877056"/>
            <a:ext cx="1766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25955" y="3877056"/>
            <a:ext cx="1778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0376" y="4864608"/>
            <a:ext cx="4044391" cy="109728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9832" y="5010912"/>
            <a:ext cx="36054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pérdida total en CFM es el argumento comercial: 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convierte una inspección en un proyecto de corrección.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Sumarla a mano era, además, donde más se equivocaba el reporte.</a:t>
            </a:r>
            <a:endParaRPr lang="en-US" sz="11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FUGAS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TRANSVERSALES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ahorra minutos en todos los módulos a la vez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 de materiales · Ctrl+K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70760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desde cualquier punto. Se escribe parte de la descripción o del número de parte, se fija la cantidad y se agrega. Enter agrega sin cerrar; Shift+Enter agrega y cierra.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259836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 PARTIDAS · SIN SALIR DEL FORMULARIO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2122" y="1755648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1578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Fórmulas a la vista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270760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campo delicado lleva un icono de información con su fórmula y su fuente: norma, tabla o criterio. La pantalla queda limpia y la justificación no se pierde.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3259836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NOTAS AL PIE QUE ESTORBEN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97317" y="1755648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6773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acceso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16773" y="2270760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entra una vez y se cambia de módulo sin volver a identificarse. El módulo abierto se recuerda para la próxima sesión.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16773" y="3259836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HERRAMIENTAS · 1 CONTRASEÑA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863340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0462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ingeniero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378452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y las iniciales de quien firma se rellenan solos desde la cuenta que inició sesión, en los cuatro módulos que los piden. Si alguien escribe algo a mano, no se pisa.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5367528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FORMULARIOS MENOS QUE TECLEAR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32122" y="3863340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1578" y="40462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listas de precios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51578" y="4378452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sube la lista del proveedor en PDF o foto y el sistema lee la tabla y propone las partidas para revisión antes de importarlas al catálogo.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51578" y="5367528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 HORAS DE CAPTURA A 5 MINUTOS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7317" y="3863340"/>
            <a:ext cx="3527450" cy="1869948"/>
          </a:xfrm>
          <a:prstGeom prst="roundRect">
            <a:avLst>
              <a:gd name="adj" fmla="val 978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6773" y="40462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adapta a la pantalla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16773" y="4378452"/>
            <a:ext cx="3088538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claro y oscuro en los seis módulos, recordado entre sesiones, y menú adaptado a media pantalla y a móvil para consultar un precio desde la planta.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16773" y="5367528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VERIFICADO EN AMBOS TEMAS</a:t>
            </a:r>
            <a:endParaRPr lang="en-US" sz="950" dirty="0"/>
          </a:p>
        </p:txBody>
      </p:sp>
      <p:pic>
        <p:nvPicPr>
          <p:cNvPr id="28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TRANSVERSALES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administra decide una vez, y aplica para todos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8846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secciones reservadas al rol de administrador. No hay contraseña compartida: el panel aparece o no según la cuenta con la que se entró.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9424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43230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64536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porcentajes de utilidad, mano de obra y viáticos se fijan aquí y rigen para todas las cotizaciones del equipo. Cada cambio se previsualiza antes de guardar.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2122" y="2249424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1578" y="243230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masiva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764536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desde Excel o desde la lista de precios leída del PDF del proveedor, con revisión partida por partida antes de confirmar.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7317" y="2249424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6773" y="243230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16773" y="2764536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entró, qué modificó y cuándo. Es de sólo lectura, incluso para el administrador, y se conserva 24 meses.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16773" y="3342132"/>
            <a:ext cx="3088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NO MODIFICABLE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945636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412851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4460748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Alta, baja y edición en línea de descripción, número de parte y precio. Lo que se guarda se sincroniza al instante para todos.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2122" y="3945636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1578" y="412851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4460748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cuentas, asignar rol, restablecer contraseña y desactivar a quien deja el área. Sin tocar la base de datos.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3945636"/>
            <a:ext cx="3527450" cy="1458468"/>
          </a:xfrm>
          <a:prstGeom prst="roundRect">
            <a:avLst>
              <a:gd name="adj" fmla="val 1254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16773" y="412851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16773" y="4460748"/>
            <a:ext cx="3088538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catálogo y la bitácora salen en CSV para auditoría o para llevarlos a otro sistema.</a:t>
            </a:r>
            <a:endParaRPr lang="en-US" sz="1100" dirty="0"/>
          </a:p>
        </p:txBody>
      </p:sp>
      <p:pic>
        <p:nvPicPr>
          <p:cNvPr id="24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ADMINISTRADOR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AHORRO, EN CONJUNTO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de 66 horas al mes que vuelven al departamento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801368"/>
          <a:ext cx="7360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847088"/>
            <a:ext cx="3337560" cy="1024128"/>
          </a:xfrm>
          <a:prstGeom prst="roundRect">
            <a:avLst>
              <a:gd name="adj" fmla="val 1786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94776" y="197510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66.1 h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494776" y="25054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RECUPERADAS CADA MES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75320" y="3072384"/>
            <a:ext cx="3337560" cy="1024128"/>
          </a:xfrm>
          <a:prstGeom prst="roundRect">
            <a:avLst>
              <a:gd name="adj" fmla="val 1786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94776" y="32004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795 h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494776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AÑO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75320" y="4297680"/>
            <a:ext cx="3337560" cy="1024128"/>
          </a:xfrm>
          <a:prstGeom prst="roundRect">
            <a:avLst>
              <a:gd name="adj" fmla="val 1786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44256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99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4956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JORNADAS DE 8 HORAS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650992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«con el portal» medidos sobre la herramienta real. Tiempos «antes» y volúmenes mensuales: estimación del departamento — ver lámina siguiente.</a:t>
            </a:r>
            <a:endParaRPr lang="en-US" sz="1000" dirty="0"/>
          </a:p>
        </p:txBody>
      </p:sp>
      <p:pic>
        <p:nvPicPr>
          <p:cNvPr id="15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AHORRO, EN CONJUNTO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CALCULÓ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salen esos números — y qué falta para confirmarlos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SUPUESTOS, SOBRE LA MESA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39696"/>
            <a:ext cx="520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tiempos «con el portal»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de recorrer la herramienta real, capturando un caso completo de principio a fin.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tiempos «antes»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la estimación del flujo manual actual: abrir la plantilla, buscar precios, calcular, formatear y revisar.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volúmenes mensuales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un supuesto conservador de la carga del departamento, no una medición.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cuenta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tiempo de espera de terceros: aprobaciones, respuestas del proveedor ni visitas a planta.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4498848"/>
            <a:ext cx="5208880" cy="1188720"/>
          </a:xfrm>
          <a:prstGeom prst="roundRect">
            <a:avLst>
              <a:gd name="adj" fmla="val 1538"/>
            </a:avLst>
          </a:prstGeom>
          <a:solidFill>
            <a:srgbClr val="EE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4645152"/>
            <a:ext cx="4769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 honesto que sigue: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medir un mes real, con volúmenes y tiempos de bitácora, y sustituir estos supuestos por datos. Si la cifra resulta menor, sigue siendo tiempo de ingeniería recuperado; si resulta mayor, ya sabremos dónde.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1755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APARECE EN LA TABLA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139696"/>
            <a:ext cx="520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transcripción que ya no ocurren.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dato se captura una vez y viaja solo hasta el PDF.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lista de precios.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acabó cotizar con el precio del trimestre pasado.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Cálculos que se pueden defender.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resultado trae su fórmula, su fuente y su criterio a la vista.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uniforme.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entregables de dos ingenieros distintos se ven igual.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del departamento.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Cotizaciones, requisiciones y clientes quedan buscables.</a:t>
            </a:r>
            <a:endParaRPr lang="en-US" sz="12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Continuidad.</a:t>
            </a:r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Quien entra nuevo produce un entregable correcto el primer día.</a:t>
            </a:r>
            <a:endParaRPr lang="en-US" sz="1250" dirty="0"/>
          </a:p>
        </p:txBody>
      </p:sp>
      <p:pic>
        <p:nvPicPr>
          <p:cNvPr id="10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CALCULÓ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· 1 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dónde viajan los datos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8846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nunca habla directamente con la base de datos. Todo pasa por el servidor, que valida quién pide, qué pide y lo deja escrito.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9424"/>
            <a:ext cx="3307994" cy="2788920"/>
          </a:xfrm>
          <a:prstGeom prst="roundRect">
            <a:avLst>
              <a:gd name="adj" fmla="val 656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414016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33472"/>
            <a:ext cx="283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54096"/>
            <a:ext cx="28325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guarda ninguna llave ni contraseña.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lleva una cookie de sesión firmada, que el propio JavaScript no puede leer.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página no se deja incrustar en otro sitio y no se indexa en buscadores.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874922" y="34610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41850" y="2249424"/>
            <a:ext cx="3307994" cy="2788920"/>
          </a:xfrm>
          <a:prstGeom prst="roundRect">
            <a:avLst>
              <a:gd name="adj" fmla="val 656"/>
            </a:avLst>
          </a:prstGeom>
          <a:solidFill>
            <a:srgbClr val="FFF4F5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9594" y="2414016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EL FILTRO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679594" y="2633472"/>
            <a:ext cx="283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Vercel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79594" y="3054096"/>
            <a:ext cx="28325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firma de la sesión antes de hacer nada.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blanca de tabla y operación por rol: lo que no está permitido, no existe.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consultas que arrastren datos de otras tablas.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 intentos por minuto y verificación de origen.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cada movimiento en la bitácora.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49845" y="34610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16773" y="2249424"/>
            <a:ext cx="3307994" cy="2788920"/>
          </a:xfrm>
          <a:prstGeom prst="roundRect">
            <a:avLst>
              <a:gd name="adj" fmla="val 656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54517" y="2414016"/>
            <a:ext cx="28325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554517" y="2633472"/>
            <a:ext cx="283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54517" y="3054096"/>
            <a:ext cx="28325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a nivel de fila activa, sin políticas abiertas.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entra la llave de servicio, que vive únicamente en las variables de entorno del servidor.</a:t>
            </a:r>
            <a:endParaRPr lang="en-US" sz="1000" dirty="0"/>
          </a:p>
          <a:p>
            <a:pPr marL="190500" indent="-1905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es inmutable y se purga a los 24 meses.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5312664"/>
            <a:ext cx="11057839" cy="786384"/>
          </a:xfrm>
          <a:prstGeom prst="roundRect">
            <a:avLst>
              <a:gd name="adj" fmla="val 2326"/>
            </a:avLst>
          </a:prstGeom>
          <a:solidFill>
            <a:srgbClr val="FBEC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5458968"/>
            <a:ext cx="106189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CERRADA.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Antes de la auditoría, el navegador llevaba la llave de la base de datos dentro del código de la página: cualquiera con el sitio abierto podía leerla.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ruta ya no existe.</a:t>
            </a:r>
            <a:endParaRPr lang="en-US" sz="1200" dirty="0"/>
          </a:p>
        </p:txBody>
      </p:sp>
      <p:pic>
        <p:nvPicPr>
          <p:cNvPr id="2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· ARQUITECTURA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· 2 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4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Cuentas, permisos y rastro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63140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Guardadas con </a:t>
            </a:r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scrypt y sal individual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Nadie —tampoco el administrador— puede leer la contraseña de otro; sólo restablecerla. Mínimo 10 caracteres con letras y números.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2122" y="1755648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263140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Firmadas con HMAC-SHA256 y comparadas en tiempo constante. Duran 10 horas y caducan solas; al vencer, el portal regresa a la pantalla de acceso.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7317" y="1755648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6773" y="1938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protegida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16773" y="2263140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HttpOnly, Secure y SameSite estricto: no es legible desde el navegador ni viaja desde otro sitio.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160776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343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roles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668268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trabaja; </a:t>
            </a:r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además toca precios, utilidades y cuentas. El panel no se esconde: no se sirve a quien no le toca.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2122" y="3160776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3343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Altas y bajas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3668268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alguien deja el área se desactiva su cuenta y pierde el acceso al instante, sin cambiar la contraseña de todos los demás.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7317" y="3160776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16773" y="33436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en el acceso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16773" y="3668268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 de entrada declara que el sistema es propiedad de Gardner Denver y que los accesos quedan registrados en bitácora.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65904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74878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del navegador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5073396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contenido que impide cargar código de terceros, transporte cifrado obligatorio y escapado de todo dato antes de mostrarlo.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2122" y="4565904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1578" y="474878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51578" y="5073396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Quién, qué y cuándo, en registro de sólo lectura. Es la evidencia de un cambio de precio o de un borrado, y se conserva 24 meses.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7317" y="4565904"/>
            <a:ext cx="3527450" cy="1167384"/>
          </a:xfrm>
          <a:prstGeom prst="roundRect">
            <a:avLst>
              <a:gd name="adj" fmla="val 1567"/>
            </a:avLst>
          </a:prstGeom>
          <a:solidFill>
            <a:srgbClr val="F5F6F8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16773" y="4748784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secretos en el código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316773" y="5073396"/>
            <a:ext cx="3088538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llave ni contraseña vive en los archivos del portal. Todas están en variables de entorno del servidor.</a:t>
            </a:r>
            <a:endParaRPr lang="en-US" sz="1050" dirty="0"/>
          </a:p>
        </p:txBody>
      </p:sp>
      <p:pic>
        <p:nvPicPr>
          <p:cNvPr id="31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· CUENTAS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0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portal no está terminado. Está en servicio y creciendo.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8846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libera de forma continua: un cambio aprobado hoy está disponible para todos el mismo día, sin instalar nada en las computadoras.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4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6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520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cotizaciones consultable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versiones y comparación entre ellas, para ver qué cambió entre la propuesta y la que se cerró.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Vigencia de precios: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aviso cuando una partida lleva demasiado tiempo sin actualizarse, para no cotizar con lista vencida.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 tiempos reales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la bitácora, para sustituir las estimaciones por datos del departamento.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15888" y="221284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EF1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5888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415888" y="2651760"/>
            <a:ext cx="520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fugas en campo desde el celular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fotos y sin depender de la señal de la planta.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proyectos tipo: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arrancar una cotización desde una anterior parecida en lugar de desde la hoja en blanco.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hacia el ERP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que la requisición no se recapture en el sistema de compras.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indicadores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departamento: cotizaciones emitidas, tiempo de respuesta y tasa de cierre.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5303520"/>
            <a:ext cx="11057839" cy="731520"/>
          </a:xfrm>
          <a:prstGeom prst="roundRect">
            <a:avLst>
              <a:gd name="adj" fmla="val 2500"/>
            </a:avLst>
          </a:prstGeom>
          <a:solidFill>
            <a:srgbClr val="EEF1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5449824"/>
            <a:ext cx="106189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3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nuevas las decide el departamento.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85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que hoy se hace a mano y se repite cada semana es el mejor candidato: si alguien lo dice en esta sala, entra a la lista.</a:t>
            </a:r>
            <a:endParaRPr lang="en-US" sz="1200" dirty="0"/>
          </a:p>
        </p:txBody>
      </p:sp>
      <p:pic>
        <p:nvPicPr>
          <p:cNvPr id="13" name="Image 0" descr="C:\Users\disfr\Desktop\sistemas POS y Webs\cotizador-pipro-main\cotizador-pipro-main\assets\logo-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72784"/>
            <a:ext cx="896112" cy="27249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64208" y="6291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161727" y="6291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7B86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097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herramientas, un acceso, un catálogo y una forma de entregar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03120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LLEVA EL DEPARTAMENTO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344210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≈66 horas al mes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dejan de irse en capturar y formatear.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precio vigente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todo el equipo.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Cálculos auditados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se pueden defender frente al cliente.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buscable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cotizaciones, requisiciones y clientes.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374794" y="2103120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LLEVA LA EMPRESA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74794" y="2487168"/>
            <a:ext cx="344210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dejaron de estar expuestos: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ninguna llave viaja al navegador.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nominales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rol, no una contraseña que todos conocen.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 auditable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cada cambio de precio y de catálogo.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uniforme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todo lo que se entrega.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82661" y="2103120"/>
            <a:ext cx="344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182661" y="2487168"/>
            <a:ext cx="344210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las cuentas del personal y cerrar el acceso general.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un mes real y publicar los tiempos verdaderos.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Recoger aquí mismo la siguiente función a construir.</a:t>
            </a:r>
            <a:endParaRPr lang="en-US" sz="1200" dirty="0"/>
          </a:p>
        </p:txBody>
      </p:sp>
      <p:pic>
        <p:nvPicPr>
          <p:cNvPr id="10" name="Image 0" descr="C:\Users\disfr\Desktop\sistemas POS y Webs\cotizador-pipro-main\cotizador-pipro-main\assets\logo-g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779008"/>
            <a:ext cx="1417320" cy="43068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304288" y="574243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PIPRO  ·  Gardner Denver México  ·  Departamento de Ingeniería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de septiembre de 2026 — en desarrollo activo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Gardner Denver Mexico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PIPRO</dc:title>
  <dc:subject>PptxGenJS Presentation</dc:subject>
  <dc:creator>Gardner Denver Mexico</dc:creator>
  <cp:lastModifiedBy>Gardner Denver Mexico</cp:lastModifiedBy>
  <cp:revision>1</cp:revision>
  <dcterms:created xsi:type="dcterms:W3CDTF">2026-09-07T15:18:45Z</dcterms:created>
  <dcterms:modified xsi:type="dcterms:W3CDTF">2026-09-07T15:18:45Z</dcterms:modified>
</cp:coreProperties>
</file>